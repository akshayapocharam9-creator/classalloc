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charam Akshaya" userId="ba69cdeccdb77f9d" providerId="LiveId" clId="{936E2854-7089-4797-A963-74EDFB5D04FA}"/>
    <pc:docChg chg="custSel modSld">
      <pc:chgData name="Pocharam Akshaya" userId="ba69cdeccdb77f9d" providerId="LiveId" clId="{936E2854-7089-4797-A963-74EDFB5D04FA}" dt="2026-09-23T04:17:49.051" v="0" actId="478"/>
      <pc:docMkLst>
        <pc:docMk/>
      </pc:docMkLst>
      <pc:sldChg chg="delSp mod">
        <pc:chgData name="Pocharam Akshaya" userId="ba69cdeccdb77f9d" providerId="LiveId" clId="{936E2854-7089-4797-A963-74EDFB5D04FA}" dt="2026-09-23T04:17:49.051" v="0" actId="478"/>
        <pc:sldMkLst>
          <pc:docMk/>
          <pc:sldMk cId="0" sldId="256"/>
        </pc:sldMkLst>
        <pc:spChg chg="del">
          <ac:chgData name="Pocharam Akshaya" userId="ba69cdeccdb77f9d" providerId="LiveId" clId="{936E2854-7089-4797-A963-74EDFB5D04FA}" dt="2026-09-23T04:17:49.051" v="0" actId="478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University Classroom Allocation</a:t>
            </a:r>
            <a:br/>
            <a:r>
              <a:t>Using Constraint Satisfaction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DCE6F2"/>
                </a:solidFill>
              </a:defRPr>
            </a:pPr>
            <a:r>
              <a:t>Foundations of Artificial Intelligence (FOAI)</a:t>
            </a:r>
            <a:br/>
            <a:r>
              <a:t>AI-Based Classroom Allocation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Problem &amp; 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Problem: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University classroom allocation involves assigning classes to suitable rooms and time slots.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Manual allocation causes room clashes, faculty conflicts, capacity issues, and inefficient usage.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Aim: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To build an AI-based system that automatically generates a valid allocation by satisfying predefined constraints.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Our system takes:</a:t>
            </a:r>
          </a:p>
          <a:p>
            <a:pPr lvl="1">
              <a:spcAft>
                <a:spcPts val="1400"/>
              </a:spcAft>
              <a:defRPr sz="2200">
                <a:solidFill>
                  <a:srgbClr val="000000"/>
                </a:solidFill>
              </a:defRPr>
            </a:pPr>
            <a:r>
              <a:t>• Courses / Classes</a:t>
            </a:r>
          </a:p>
          <a:p>
            <a:pPr lvl="1">
              <a:spcAft>
                <a:spcPts val="1400"/>
              </a:spcAft>
              <a:defRPr sz="2200">
                <a:solidFill>
                  <a:srgbClr val="000000"/>
                </a:solidFill>
              </a:defRPr>
            </a:pPr>
            <a:r>
              <a:t>• Faculty</a:t>
            </a:r>
          </a:p>
          <a:p>
            <a:pPr lvl="1">
              <a:spcAft>
                <a:spcPts val="1400"/>
              </a:spcAft>
              <a:defRPr sz="2200">
                <a:solidFill>
                  <a:srgbClr val="000000"/>
                </a:solidFill>
              </a:defRPr>
            </a:pPr>
            <a:r>
              <a:t>• Classrooms</a:t>
            </a:r>
          </a:p>
          <a:p>
            <a:pPr lvl="1">
              <a:spcAft>
                <a:spcPts val="1400"/>
              </a:spcAft>
              <a:defRPr sz="2200">
                <a:solidFill>
                  <a:srgbClr val="000000"/>
                </a:solidFill>
              </a:defRPr>
            </a:pPr>
            <a:r>
              <a:t>• Room capacities</a:t>
            </a:r>
          </a:p>
          <a:p>
            <a:pPr lvl="1">
              <a:spcAft>
                <a:spcPts val="1400"/>
              </a:spcAft>
              <a:defRPr sz="2200">
                <a:solidFill>
                  <a:srgbClr val="000000"/>
                </a:solidFill>
              </a:defRPr>
            </a:pPr>
            <a:r>
              <a:t>• Available time slots</a:t>
            </a:r>
          </a:p>
          <a:p>
            <a:pPr lvl="1">
              <a:spcAft>
                <a:spcPts val="1400"/>
              </a:spcAft>
              <a:defRPr sz="2200">
                <a:solidFill>
                  <a:srgbClr val="000000"/>
                </a:solidFill>
              </a:defRPr>
            </a:pPr>
            <a:r>
              <a:t>• Room requirements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Our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We are building a Constraint Satisfaction Problem (CSP)-based classroom allocation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1920240" cy="91440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Input Data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23160" y="2880360"/>
            <a:ext cx="274320" cy="274320"/>
          </a:xfrm>
          <a:prstGeom prst="right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0" y="2560320"/>
            <a:ext cx="1920240" cy="914400"/>
          </a:xfrm>
          <a:prstGeom prst="roundRect">
            <a:avLst/>
          </a:prstGeom>
          <a:solidFill>
            <a:srgbClr val="DCE6F2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02060"/>
                </a:solidFill>
              </a:defRPr>
            </a:pPr>
            <a:r>
              <a:t>CSP Model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09160" y="2880360"/>
            <a:ext cx="274320" cy="274320"/>
          </a:xfrm>
          <a:prstGeom prst="right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0" y="2560320"/>
            <a:ext cx="1920240" cy="91440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Constraint Checking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995160" y="2880360"/>
            <a:ext cx="274320" cy="274320"/>
          </a:xfrm>
          <a:prstGeom prst="right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0" y="2560320"/>
            <a:ext cx="1920240" cy="914400"/>
          </a:xfrm>
          <a:prstGeom prst="roundRect">
            <a:avLst/>
          </a:prstGeom>
          <a:solidFill>
            <a:srgbClr val="DCE6F2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02060"/>
                </a:solidFill>
              </a:defRPr>
            </a:pPr>
            <a:r>
              <a:t>Search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281160" y="2880360"/>
            <a:ext cx="274320" cy="274320"/>
          </a:xfrm>
          <a:prstGeom prst="right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601200" y="2560320"/>
            <a:ext cx="1920240" cy="91440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Valid Allocation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The system assigns each class:</a:t>
            </a:r>
          </a:p>
          <a:p>
            <a:pPr lvl="1">
              <a:defRPr sz="2200"/>
            </a:pPr>
            <a:r>
              <a:t>• A suitable classroom</a:t>
            </a:r>
          </a:p>
          <a:p>
            <a:pPr lvl="1">
              <a:defRPr sz="2200"/>
            </a:pPr>
            <a:r>
              <a:t>• A suitable time slot</a:t>
            </a:r>
          </a:p>
          <a:p>
            <a:br/>
            <a:r>
              <a:t>The generated allocation must satisfy all defined constraints.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CSP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The classroom allocation problem is represented using three main components: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400"/>
              </a:spcAft>
              <a:defRPr sz="2600" b="1">
                <a:solidFill>
                  <a:srgbClr val="000000"/>
                </a:solidFill>
              </a:defRPr>
            </a:pPr>
            <a:r>
              <a:t>VARIABLES:</a:t>
            </a:r>
          </a:p>
          <a:p>
            <a:pPr lvl="1">
              <a:spcAft>
                <a:spcPts val="1400"/>
              </a:spcAft>
              <a:defRPr sz="2200">
                <a:solidFill>
                  <a:srgbClr val="000000"/>
                </a:solidFill>
              </a:defRPr>
            </a:pPr>
            <a:r>
              <a:t>• Classes that need to be scheduled.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400"/>
              </a:spcAft>
              <a:defRPr sz="2600" b="1">
                <a:solidFill>
                  <a:srgbClr val="000000"/>
                </a:solidFill>
              </a:defRPr>
            </a:pPr>
            <a:r>
              <a:t>DOMAINS:</a:t>
            </a:r>
          </a:p>
          <a:p>
            <a:pPr lvl="1">
              <a:spcAft>
                <a:spcPts val="1400"/>
              </a:spcAft>
              <a:defRPr sz="2200">
                <a:solidFill>
                  <a:srgbClr val="000000"/>
                </a:solidFill>
              </a:defRPr>
            </a:pPr>
            <a:r>
              <a:t>• Available classrooms and time slots for each class.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400"/>
              </a:spcAft>
              <a:defRPr sz="2600" b="1">
                <a:solidFill>
                  <a:srgbClr val="000000"/>
                </a:solidFill>
              </a:defRPr>
            </a:pPr>
            <a:r>
              <a:t>CONSTRAINTS:</a:t>
            </a:r>
          </a:p>
          <a:p>
            <a:pPr lvl="1">
              <a:spcAft>
                <a:spcPts val="1400"/>
              </a:spcAft>
              <a:defRPr sz="2200">
                <a:solidFill>
                  <a:srgbClr val="000000"/>
                </a:solidFill>
              </a:defRPr>
            </a:pPr>
            <a:r>
              <a:t>• Rules that every assignment must follow.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Example: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CSE101 → Room: {R101, R102, R103}  |  Time: {9–10, 10–11}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CSP Goal: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Find values for all variables that satisfy all constraints.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The system checks the following constraints: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1. No Room Clash: A classroom cannot be assigned to two classes at the same time.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2. No Faculty Clash: A faculty member cannot teach two classes at the same time.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3. Room Capacity: The assigned room must have enough seats for the class.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4. Room Availability: A room can only be assigned during its available time.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5. Class Availability: A class must be assigned to an allowed time slot.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6. Room Requirement: A class requiring a lab or special room must receive a suitable room.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61104" y="1371600"/>
            <a:ext cx="3657600" cy="457200"/>
          </a:xfrm>
          <a:prstGeom prst="roundRect">
            <a:avLst/>
          </a:prstGeom>
          <a:solidFill>
            <a:srgbClr val="DCE6F2"/>
          </a:solidFill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02060"/>
                </a:solidFill>
              </a:defRPr>
            </a:pPr>
            <a:r>
              <a:t>ADMIN / USER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43600" y="1874519"/>
            <a:ext cx="301752" cy="274320"/>
          </a:xfrm>
          <a:prstGeom prst="down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46704" y="2194560"/>
            <a:ext cx="5486400" cy="640080"/>
          </a:xfrm>
          <a:prstGeom prst="roundRect">
            <a:avLst/>
          </a:prstGeom>
          <a:solidFill>
            <a:srgbClr val="DCE6F2"/>
          </a:solidFill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02060"/>
                </a:solidFill>
              </a:defRPr>
            </a:pPr>
            <a:r>
              <a:t>INPUT MODULE</a:t>
            </a:r>
            <a:br/>
            <a:r>
              <a:t>(Courses | Faculty | Rooms | Time Slots)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43600" y="2880360"/>
            <a:ext cx="301752" cy="274320"/>
          </a:xfrm>
          <a:prstGeom prst="down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346704" y="3200400"/>
            <a:ext cx="5486400" cy="640080"/>
          </a:xfrm>
          <a:prstGeom prst="roundRect">
            <a:avLst/>
          </a:prstGeom>
          <a:solidFill>
            <a:srgbClr val="DCE6F2"/>
          </a:solidFill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02060"/>
                </a:solidFill>
              </a:defRPr>
            </a:pPr>
            <a:r>
              <a:t>CSP FORMULATION</a:t>
            </a:r>
            <a:br/>
            <a:r>
              <a:t>(Variables | Domains | Constraints)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43600" y="3886200"/>
            <a:ext cx="301752" cy="274320"/>
          </a:xfrm>
          <a:prstGeom prst="down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46704" y="4206240"/>
            <a:ext cx="5486400" cy="640080"/>
          </a:xfrm>
          <a:prstGeom prst="roundRect">
            <a:avLst/>
          </a:prstGeom>
          <a:solidFill>
            <a:srgbClr val="DCE6F2"/>
          </a:solidFill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02060"/>
                </a:solidFill>
              </a:defRPr>
            </a:pPr>
            <a:r>
              <a:t>CSP SOLVER</a:t>
            </a:r>
            <a:br/>
            <a:r>
              <a:t>(Constraint Checking + Search + Backtracking)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43600" y="4892040"/>
            <a:ext cx="301752" cy="274320"/>
          </a:xfrm>
          <a:prstGeom prst="down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346704" y="5212080"/>
            <a:ext cx="5486400" cy="731520"/>
          </a:xfrm>
          <a:prstGeom prst="roundRect">
            <a:avLst/>
          </a:prstGeom>
          <a:solidFill>
            <a:srgbClr val="002060"/>
          </a:solidFill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VALID ALLOCATION</a:t>
            </a:r>
            <a:br/>
            <a:r>
              <a:t>(CLASSROOM ALLOCATION / TIMETABLE)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i="1"/>
            </a:pPr>
            <a:r>
              <a:t>The input data is converted into a CSP model. The solver searches for possible assignments and rejects those that violate constraints. Backtracking allows the system to try alternatives if conflicts occur.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Working &amp; Expected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Working Process:</a:t>
            </a:r>
          </a:p>
          <a:p>
            <a:pPr>
              <a:spcAft>
                <a:spcPts val="600"/>
              </a:spcAft>
              <a:defRPr sz="2000"/>
            </a:pPr>
            <a:r>
              <a:t>1. Enter courses, faculty, classrooms &amp; time slots.</a:t>
            </a:r>
          </a:p>
          <a:p>
            <a:pPr>
              <a:spcAft>
                <a:spcPts val="600"/>
              </a:spcAft>
              <a:defRPr sz="2000"/>
            </a:pPr>
            <a:r>
              <a:t>2. Create variables and possible domains.</a:t>
            </a:r>
          </a:p>
          <a:p>
            <a:pPr>
              <a:spcAft>
                <a:spcPts val="600"/>
              </a:spcAft>
              <a:defRPr sz="2000"/>
            </a:pPr>
            <a:r>
              <a:t>3. Apply scheduling constraints.</a:t>
            </a:r>
          </a:p>
          <a:p>
            <a:pPr>
              <a:spcAft>
                <a:spcPts val="600"/>
              </a:spcAft>
              <a:defRPr sz="2000"/>
            </a:pPr>
            <a:r>
              <a:t>4. Search for a valid combination.</a:t>
            </a:r>
          </a:p>
          <a:p>
            <a:pPr>
              <a:spcAft>
                <a:spcPts val="600"/>
              </a:spcAft>
              <a:defRPr sz="2000"/>
            </a:pPr>
            <a:r>
              <a:t>5. Backtrack when a conflict occurs.</a:t>
            </a:r>
          </a:p>
          <a:p>
            <a:pPr>
              <a:spcAft>
                <a:spcPts val="600"/>
              </a:spcAft>
              <a:defRPr sz="2000"/>
            </a:pPr>
            <a:r>
              <a:t>6. Generate final allocation.</a:t>
            </a:r>
          </a:p>
          <a:p>
            <a:br/>
            <a:r>
              <a:t>Expected Output:</a:t>
            </a:r>
          </a:p>
          <a:p>
            <a:pPr>
              <a:defRPr sz="1800"/>
            </a:pPr>
            <a:r>
              <a:t>The final output provides a conflict-free allocation according to the constraints provided to the system.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228600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Faculty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Room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t>AI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t>Faculty A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t>R201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t>9–10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t>DBMS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t>Faculty B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t>R102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t>9–10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t>Python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t>Faculty C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t>R201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t>10–11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01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University classroom allocation can be effectively modeled as a Constraint Satisfaction Problem.</a:t>
            </a:r>
          </a:p>
          <a:p>
            <a:pPr>
              <a:spcAft>
                <a:spcPts val="1400"/>
              </a:spcAft>
              <a:defRPr sz="2400" b="0">
                <a:solidFill>
                  <a:srgbClr val="FFFFFF"/>
                </a:solidFill>
              </a:defRPr>
            </a:pPr>
            <a:r>
              <a:t>Our system uses:</a:t>
            </a:r>
          </a:p>
          <a:p>
            <a:pPr lvl="1">
              <a:spcAft>
                <a:spcPts val="600"/>
              </a:spcAft>
              <a:defRPr sz="2200" b="0">
                <a:solidFill>
                  <a:srgbClr val="FFFFFF"/>
                </a:solidFill>
              </a:defRPr>
            </a:pPr>
            <a:r>
              <a:t>• Variables → Classes</a:t>
            </a:r>
          </a:p>
          <a:p>
            <a:pPr lvl="1">
              <a:spcAft>
                <a:spcPts val="600"/>
              </a:spcAft>
              <a:defRPr sz="2200" b="0">
                <a:solidFill>
                  <a:srgbClr val="FFFFFF"/>
                </a:solidFill>
              </a:defRPr>
            </a:pPr>
            <a:r>
              <a:t>• Domains → Rooms and Time Slots</a:t>
            </a:r>
          </a:p>
          <a:p>
            <a:pPr lvl="1">
              <a:spcAft>
                <a:spcPts val="600"/>
              </a:spcAft>
              <a:defRPr sz="2200" b="0">
                <a:solidFill>
                  <a:srgbClr val="FFFFFF"/>
                </a:solidFill>
              </a:defRPr>
            </a:pPr>
            <a:r>
              <a:t>• Constraints → Scheduling Rules</a:t>
            </a:r>
          </a:p>
          <a:p>
            <a:pPr lvl="1">
              <a:spcAft>
                <a:spcPts val="1800"/>
              </a:spcAft>
              <a:defRPr sz="2200" b="0">
                <a:solidFill>
                  <a:srgbClr val="FFFFFF"/>
                </a:solidFill>
              </a:defRPr>
            </a:pPr>
            <a:r>
              <a:t>• Search &amp; Backtracking → Finding a valid solution</a:t>
            </a:r>
          </a:p>
          <a:p>
            <a:pPr>
              <a:spcAft>
                <a:spcPts val="600"/>
              </a:spcAft>
              <a:defRPr sz="2600" b="1">
                <a:solidFill>
                  <a:srgbClr val="FFD700"/>
                </a:solidFill>
              </a:defRPr>
            </a:pPr>
            <a:r>
              <a:t>Expected Result:</a:t>
            </a:r>
          </a:p>
          <a:p>
            <a:pPr>
              <a:spcAft>
                <a:spcPts val="2400"/>
              </a:spcAft>
              <a:defRPr sz="2200" b="0">
                <a:solidFill>
                  <a:srgbClr val="FFFFFF"/>
                </a:solidFill>
              </a:defRPr>
            </a:pPr>
            <a:r>
              <a:t>An automated classroom allocation that reduces manual effort and avoids scheduling conflicts while respecting room capacity and availability.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669280"/>
            <a:ext cx="10360152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2060"/>
                </a:solidFill>
              </a:defRPr>
            </a:pPr>
            <a:r>
              <a:t>FINAL FLOW: Input Data → CSP Model → Constraints → CSP Solver → Valid Classroom Allocation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594</Words>
  <Application>Microsoft Office PowerPoint</Application>
  <PresentationFormat>Widescreen</PresentationFormat>
  <Paragraphs>97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Pocharam Akshaya</cp:lastModifiedBy>
  <cp:revision>1</cp:revision>
  <dcterms:created xsi:type="dcterms:W3CDTF">2013-01-27T09:14:16Z</dcterms:created>
  <dcterms:modified xsi:type="dcterms:W3CDTF">2026-09-23T04:17:57Z</dcterms:modified>
  <cp:category/>
</cp:coreProperties>
</file>