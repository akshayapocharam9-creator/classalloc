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charam Akshaya" userId="ba69cdeccdb77f9d" providerId="LiveId" clId="{936E2854-7089-4797-A963-74EDFB5D04FA}"/>
    <pc:docChg chg="modSld">
      <pc:chgData name="Pocharam Akshaya" userId="ba69cdeccdb77f9d" providerId="LiveId" clId="{936E2854-7089-4797-A963-74EDFB5D04FA}" dt="2026-09-23T04:31:01.326" v="3" actId="1076"/>
      <pc:docMkLst>
        <pc:docMk/>
      </pc:docMkLst>
      <pc:sldChg chg="modSp mod">
        <pc:chgData name="Pocharam Akshaya" userId="ba69cdeccdb77f9d" providerId="LiveId" clId="{936E2854-7089-4797-A963-74EDFB5D04FA}" dt="2026-09-23T04:31:01.326" v="3" actId="1076"/>
        <pc:sldMkLst>
          <pc:docMk/>
          <pc:sldMk cId="0" sldId="258"/>
        </pc:sldMkLst>
        <pc:spChg chg="mod">
          <ac:chgData name="Pocharam Akshaya" userId="ba69cdeccdb77f9d" providerId="LiveId" clId="{936E2854-7089-4797-A963-74EDFB5D04FA}" dt="2026-09-23T04:31:01.326" v="3" actId="1076"/>
          <ac:spMkLst>
            <pc:docMk/>
            <pc:sldMk cId="0" sldId="258"/>
            <ac:spMk id="18" creationId="{00000000-0000-0000-0000-000000000000}"/>
          </ac:spMkLst>
        </pc:spChg>
      </pc:sldChg>
      <pc:sldChg chg="modSp mod">
        <pc:chgData name="Pocharam Akshaya" userId="ba69cdeccdb77f9d" providerId="LiveId" clId="{936E2854-7089-4797-A963-74EDFB5D04FA}" dt="2026-09-23T04:28:49.530" v="2" actId="1076"/>
        <pc:sldMkLst>
          <pc:docMk/>
          <pc:sldMk cId="0" sldId="261"/>
        </pc:sldMkLst>
        <pc:spChg chg="mod">
          <ac:chgData name="Pocharam Akshaya" userId="ba69cdeccdb77f9d" providerId="LiveId" clId="{936E2854-7089-4797-A963-74EDFB5D04FA}" dt="2026-09-23T04:28:41.984" v="1" actId="1076"/>
          <ac:spMkLst>
            <pc:docMk/>
            <pc:sldMk cId="0" sldId="261"/>
            <ac:spMk id="25" creationId="{00000000-0000-0000-0000-000000000000}"/>
          </ac:spMkLst>
        </pc:spChg>
        <pc:spChg chg="mod">
          <ac:chgData name="Pocharam Akshaya" userId="ba69cdeccdb77f9d" providerId="LiveId" clId="{936E2854-7089-4797-A963-74EDFB5D04FA}" dt="2026-09-23T04:28:49.530" v="2" actId="1076"/>
          <ac:spMkLst>
            <pc:docMk/>
            <pc:sldMk cId="0" sldId="261"/>
            <ac:spMk id="2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0" y="1828800"/>
            <a:ext cx="1828800" cy="914400"/>
          </a:xfrm>
          <a:prstGeom prst="line">
            <a:avLst/>
          </a:prstGeom>
          <a:ln w="19050">
            <a:solidFill>
              <a:srgbClr val="112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144000" y="2743200"/>
            <a:ext cx="914400" cy="914400"/>
          </a:xfrm>
          <a:prstGeom prst="line">
            <a:avLst/>
          </a:prstGeom>
          <a:ln w="19050">
            <a:solidFill>
              <a:srgbClr val="112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8229600" y="2743200"/>
            <a:ext cx="2743200" cy="914400"/>
          </a:xfrm>
          <a:prstGeom prst="line">
            <a:avLst/>
          </a:prstGeom>
          <a:ln w="19050">
            <a:solidFill>
              <a:srgbClr val="1122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7315200" y="1828800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0" y="2743200"/>
            <a:ext cx="137160" cy="13716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0" y="3657600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229600" y="3657600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972800" y="2743200"/>
            <a:ext cx="73152" cy="7315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University Classroom Allocation</a:t>
            </a:r>
            <a:br/>
            <a:r>
              <a:t>Using Constraint Satisfaction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0EA5E9"/>
                </a:solidFill>
                <a:latin typeface="Segoe UI"/>
              </a:defRPr>
            </a:pPr>
            <a:r>
              <a:t>Foundations of Artificial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THE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8288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Courses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26080" y="1600200"/>
            <a:ext cx="365760" cy="27432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474720" y="1371600"/>
            <a:ext cx="18288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0" y="150876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Faculty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486400" y="1600200"/>
            <a:ext cx="365760" cy="27432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35040" y="1371600"/>
            <a:ext cx="18288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0" y="150876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Rooms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046719" y="1600200"/>
            <a:ext cx="365760" cy="27432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595359" y="1371600"/>
            <a:ext cx="18288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59" y="150876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Time Slots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64748B"/>
                </a:solidFill>
                <a:latin typeface="Segoe UI"/>
              </a:defRPr>
            </a:pPr>
            <a:r>
              <a:t>Common Scheduling Conflicts: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108960"/>
            <a:ext cx="1828800" cy="91440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38328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DC2626"/>
                </a:solidFill>
                <a:latin typeface="Segoe UI"/>
              </a:defRPr>
            </a:pPr>
            <a:r>
              <a:t>Room Clash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3108960"/>
            <a:ext cx="1828800" cy="91440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0" y="338328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DC2626"/>
                </a:solidFill>
                <a:latin typeface="Segoe UI"/>
              </a:defRPr>
            </a:pPr>
            <a:r>
              <a:t>Faculty Clash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3108960"/>
            <a:ext cx="1828800" cy="91440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35040" y="338328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DC2626"/>
                </a:solidFill>
                <a:latin typeface="Segoe UI"/>
              </a:defRPr>
            </a:pPr>
            <a:r>
              <a:t>Capacity Issue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59" y="3108960"/>
            <a:ext cx="1828800" cy="91440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59" y="338328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DC2626"/>
                </a:solidFill>
                <a:latin typeface="Segoe UI"/>
              </a:defRPr>
            </a:pPr>
            <a:r>
              <a:t>Availability Issue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846320"/>
            <a:ext cx="10332720" cy="1188720"/>
          </a:xfrm>
          <a:prstGeom prst="round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71600" y="521208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Our Aim: Automatically generate a valid classroom allocation by satisfying predefined constraints.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OUR PROPOSED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09847" y="1188720"/>
            <a:ext cx="45720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09847" y="132588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9847" y="155448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Segoe UI"/>
              </a:defRPr>
            </a:pPr>
            <a:r>
              <a:t>Courses | Faculty | Classrooms | Time Slots | Room Requirements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58687" y="1965960"/>
            <a:ext cx="274320" cy="274319"/>
          </a:xfrm>
          <a:prstGeom prst="downArrow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809847" y="2286000"/>
            <a:ext cx="4572000" cy="731520"/>
          </a:xfrm>
          <a:prstGeom prst="round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09847" y="24231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CSP MODEL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58687" y="3063239"/>
            <a:ext cx="274320" cy="274319"/>
          </a:xfrm>
          <a:prstGeom prst="downArrow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809847" y="3383280"/>
            <a:ext cx="45720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09847" y="35204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CONSTRAINT CHECKING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58687" y="4160520"/>
            <a:ext cx="274320" cy="274319"/>
          </a:xfrm>
          <a:prstGeom prst="downArrow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809847" y="4480559"/>
            <a:ext cx="4572000" cy="731520"/>
          </a:xfrm>
          <a:prstGeom prst="round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09847" y="46177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SEARCH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958687" y="5257799"/>
            <a:ext cx="274320" cy="274319"/>
          </a:xfrm>
          <a:prstGeom prst="downArrow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809847" y="5577840"/>
            <a:ext cx="4572000" cy="9144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09847" y="58521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VALID CLASSROOM ALLOCATION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CSP FORMULATION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9487" y="1463040"/>
            <a:ext cx="32004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9487" y="192024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0A192F"/>
                </a:solidFill>
                <a:latin typeface="Segoe UI"/>
              </a:defRPr>
            </a:pPr>
            <a:r>
              <a:t>VARIABLES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2367" y="256032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Segoe UI"/>
              </a:defRPr>
            </a:pPr>
            <a:r>
              <a:t>Classes that need scheduling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95647" y="1463040"/>
            <a:ext cx="32004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95647" y="192024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0A192F"/>
                </a:solidFill>
                <a:latin typeface="Segoe UI"/>
              </a:defRPr>
            </a:pPr>
            <a:r>
              <a:t>DOMAINS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8527" y="256032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Segoe UI"/>
              </a:defRPr>
            </a:pPr>
            <a:r>
              <a:t>Available rooms + time slots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1807" y="1463040"/>
            <a:ext cx="32004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61807" y="192024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0A192F"/>
                </a:solidFill>
                <a:latin typeface="Segoe UI"/>
              </a:defRPr>
            </a:pPr>
            <a:r>
              <a:t>CONSTRAINTS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4687" y="256032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Segoe UI"/>
              </a:defRPr>
            </a:pPr>
            <a:r>
              <a:t>Rules that must be satisfied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9487" y="4114800"/>
            <a:ext cx="10332720" cy="10972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86687" y="429768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A192F"/>
                </a:solidFill>
                <a:latin typeface="Segoe UI"/>
              </a:defRPr>
            </a:pPr>
            <a:r>
              <a:t>Example: CSE101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29887" y="429768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Segoe UI"/>
              </a:defRPr>
            </a:pPr>
            <a:r>
              <a:t>Room → R101 / R102 / R103</a:t>
            </a:r>
            <a:br/>
            <a:r>
              <a:t>Time → 9–10 / 10–11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9487" y="5486400"/>
            <a:ext cx="10332720" cy="731520"/>
          </a:xfrm>
          <a:prstGeom prst="round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9487" y="57150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Find an assignment that satisfies all constraints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CONSTRAINTS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2327" y="1645920"/>
            <a:ext cx="3291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3767" y="1463040"/>
            <a:ext cx="914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800" b="1">
                <a:solidFill>
                  <a:srgbClr val="E0F2FE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647" y="20116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92F"/>
                </a:solidFill>
                <a:latin typeface="Segoe UI"/>
              </a:defRPr>
            </a:pPr>
            <a:r>
              <a:t>NO ROOM CLASH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647" y="237744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One room cannot host two classes at the same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9927" y="1645920"/>
            <a:ext cx="3291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41367" y="1463040"/>
            <a:ext cx="914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800" b="1">
                <a:solidFill>
                  <a:srgbClr val="E0F2FE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4247" y="20116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92F"/>
                </a:solidFill>
                <a:latin typeface="Segoe UI"/>
              </a:defRPr>
            </a:pPr>
            <a:r>
              <a:t>NO FACULTY CLASH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4247" y="237744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A faculty member cannot teach two classes simultaneously.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7527" y="1645920"/>
            <a:ext cx="3291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98967" y="1463040"/>
            <a:ext cx="914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800" b="1">
                <a:solidFill>
                  <a:srgbClr val="E0F2FE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1847" y="20116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92F"/>
                </a:solidFill>
                <a:latin typeface="Segoe UI"/>
              </a:defRPr>
            </a:pPr>
            <a:r>
              <a:t>ROOM CAPACITY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1847" y="237744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Room capacity must be sufficient for the class.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2327" y="3657600"/>
            <a:ext cx="3291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3767" y="3474720"/>
            <a:ext cx="914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800" b="1">
                <a:solidFill>
                  <a:srgbClr val="E0F2FE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6647" y="40233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92F"/>
                </a:solidFill>
                <a:latin typeface="Segoe UI"/>
              </a:defRPr>
            </a:pPr>
            <a:r>
              <a:t>ROOM AVAILABILITY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647" y="438912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The room must be available at the selected 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49927" y="3657600"/>
            <a:ext cx="3291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41367" y="3474720"/>
            <a:ext cx="914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800" b="1">
                <a:solidFill>
                  <a:srgbClr val="E0F2FE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4247" y="40233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92F"/>
                </a:solidFill>
                <a:latin typeface="Segoe UI"/>
              </a:defRPr>
            </a:pPr>
            <a:r>
              <a:t>CLASS AVAILABILITY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4247" y="438912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The class must be scheduled in an allowed time slot.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7527" y="3657600"/>
            <a:ext cx="3291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98967" y="3474720"/>
            <a:ext cx="914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800" b="1">
                <a:solidFill>
                  <a:srgbClr val="E0F2FE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1847" y="40233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92F"/>
                </a:solidFill>
                <a:latin typeface="Segoe UI"/>
              </a:defRPr>
            </a:pPr>
            <a:r>
              <a:t>ROOM REQUIREMENT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1847" y="438912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Labs or special classes require suitable rooms.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67047" y="1097280"/>
            <a:ext cx="3657600" cy="54864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67047" y="12344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A192F"/>
                </a:solidFill>
                <a:latin typeface="Segoe UI"/>
              </a:defRPr>
            </a:pPr>
            <a:r>
              <a:t>ADMIN / USER</a:t>
            </a:r>
          </a:p>
        </p:txBody>
      </p:sp>
      <p:sp>
        <p:nvSpPr>
          <p:cNvPr id="6" name="Down Arrow 5"/>
          <p:cNvSpPr/>
          <p:nvPr/>
        </p:nvSpPr>
        <p:spPr>
          <a:xfrm>
            <a:off x="6004407" y="1691639"/>
            <a:ext cx="182880" cy="182879"/>
          </a:xfrm>
          <a:prstGeom prst="downArrow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267047" y="1920239"/>
            <a:ext cx="36576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67047" y="2148839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INPUT MODULE</a:t>
            </a:r>
            <a:br/>
            <a:r>
              <a:t>Courses | Faculty | Rooms | Time Slots</a:t>
            </a:r>
          </a:p>
        </p:txBody>
      </p:sp>
      <p:sp>
        <p:nvSpPr>
          <p:cNvPr id="9" name="Down Arrow 8"/>
          <p:cNvSpPr/>
          <p:nvPr/>
        </p:nvSpPr>
        <p:spPr>
          <a:xfrm>
            <a:off x="6004407" y="2697479"/>
            <a:ext cx="182880" cy="182879"/>
          </a:xfrm>
          <a:prstGeom prst="downArrow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267047" y="2926080"/>
            <a:ext cx="36576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67047" y="31546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CSP FORMULATION</a:t>
            </a:r>
            <a:br/>
            <a:r>
              <a:t>Variables | Domains | Constraints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6004407" y="3703320"/>
            <a:ext cx="182880" cy="182879"/>
          </a:xfrm>
          <a:prstGeom prst="downArrow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809847" y="3931920"/>
            <a:ext cx="4572000" cy="1371600"/>
          </a:xfrm>
          <a:prstGeom prst="round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09847" y="4023359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CSP SOLVER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7047" y="4389120"/>
            <a:ext cx="10972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67047" y="4434840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A192F"/>
                </a:solidFill>
                <a:latin typeface="Segoe UI"/>
              </a:defRPr>
            </a:pPr>
            <a:r>
              <a:t>Constraint</a:t>
            </a:r>
            <a:br/>
            <a:r>
              <a:t>Checking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47207" y="4389120"/>
            <a:ext cx="10972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47207" y="452628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A192F"/>
                </a:solidFill>
                <a:latin typeface="Segoe UI"/>
              </a:defRPr>
            </a:pPr>
            <a:r>
              <a:t>Search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27367" y="4389120"/>
            <a:ext cx="10972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27367" y="452628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A192F"/>
                </a:solidFill>
                <a:latin typeface="Segoe UI"/>
              </a:defRPr>
            </a:pPr>
            <a:r>
              <a:t>Backtracking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6004407" y="5349240"/>
            <a:ext cx="182880" cy="182879"/>
          </a:xfrm>
          <a:prstGeom prst="downArrow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267047" y="5577840"/>
            <a:ext cx="3657600" cy="5486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67047" y="5714999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VALID ALLOCATION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6004407" y="6172199"/>
            <a:ext cx="182880" cy="182879"/>
          </a:xfrm>
          <a:prstGeom prst="downArrow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267047" y="6364222"/>
            <a:ext cx="3657600" cy="548640"/>
          </a:xfrm>
          <a:prstGeom prst="round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67047" y="6446519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CLASSROOM ALLOCATION / TIMETABLE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HOW IT WORKS +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A192F"/>
                </a:solidFill>
                <a:latin typeface="Segoe UI"/>
              </a:defRPr>
            </a:pPr>
            <a: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Segoe UI"/>
              </a:defRPr>
            </a:pPr>
            <a:r>
              <a:t>01  Collect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Segoe UI"/>
              </a:defRPr>
            </a:pPr>
            <a:r>
              <a:t>02  Create CSP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Segoe UI"/>
              </a:defRPr>
            </a:pPr>
            <a:r>
              <a:t>03  Apply Constraints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Segoe UI"/>
              </a:defRPr>
            </a:pPr>
            <a:r>
              <a:t>04  Search for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Segoe UI"/>
              </a:defRPr>
            </a:pPr>
            <a:r>
              <a:t>05  Backtrack on Conflict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06  Generate Allocation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3716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A192F"/>
                </a:solidFill>
                <a:latin typeface="Segoe UI"/>
              </a:defRPr>
            </a:pPr>
            <a:r>
              <a:t>EXPECTED OUTPUT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0" y="2011680"/>
          <a:ext cx="5943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FACULTY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ROOM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Faculty 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R201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9–10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DBMS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Faculty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9–10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Python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Faculty 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R201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10–11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486400" y="4572000"/>
            <a:ext cx="5943600" cy="73152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0" y="47091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92F"/>
                </a:solidFill>
                <a:latin typeface="Segoe UI"/>
              </a:defRPr>
            </a:pPr>
            <a:r>
              <a:t>✓ The final output provides a conflict-free allocation according to all defined constraints.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58087" y="1371600"/>
            <a:ext cx="2194560" cy="9144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8087" y="164592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52647" y="155448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0EA5E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18407" y="1371600"/>
            <a:ext cx="2194560" cy="9144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18407" y="164592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DOMAINS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12967" y="155448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0EA5E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371600"/>
            <a:ext cx="2194560" cy="9144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78727" y="164592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CONSTRAINTS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3287" y="155448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0EA5E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39047" y="1371600"/>
            <a:ext cx="2194560" cy="9144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39047" y="164592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SEARCH /</a:t>
            </a:r>
            <a:br/>
            <a:r>
              <a:t>BACKTRACKING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246888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0EA5E9"/>
                </a:solidFill>
                <a:latin typeface="Segoe UI"/>
              </a:defRPr>
            </a:pPr>
            <a:r>
              <a:t>=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09847" y="3383280"/>
            <a:ext cx="4572000" cy="9144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09847" y="37033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VALID CLASSROOM ALLOCATION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572000"/>
            <a:ext cx="4572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• Automate allocation.</a:t>
            </a:r>
            <a:br/>
            <a:r>
              <a:t>• Reduce conflicts.</a:t>
            </a:r>
            <a:br/>
            <a:r>
              <a:t>• Respect classroom constraints.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943600"/>
            <a:ext cx="10362895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6080760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A192F"/>
                </a:solidFill>
                <a:latin typeface="Segoe UI"/>
              </a:defRPr>
            </a:pPr>
            <a:r>
              <a:t>Input Data  →  CSP Model  →  CSP Solver  →  Valid Allocation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328</Words>
  <Application>Microsoft Office PowerPoint</Application>
  <PresentationFormat>Widescreen</PresentationFormat>
  <Paragraphs>96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Pocharam Akshaya</cp:lastModifiedBy>
  <cp:revision>1</cp:revision>
  <dcterms:created xsi:type="dcterms:W3CDTF">2013-01-27T09:14:16Z</dcterms:created>
  <dcterms:modified xsi:type="dcterms:W3CDTF">2026-09-23T04:31:12Z</dcterms:modified>
  <cp:category/>
</cp:coreProperties>
</file>